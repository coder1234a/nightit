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NightIT. We replace the paper bill at the VIT night mess with a single-use code, and the corridor queue with one you can watch from your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 cannot move block to block after 9pm. So this is not a delivery problem — it is a queue and identity problem inside one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asked us to separate the administrator and student sides. Three roles, three palettes, three routes.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pickup code is the heart of it. A partial unique index means a code only has to be unique among carts still waiting at that counter.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tested by breaking things on purpose: drop the unique index, one test fails. Revert the midnight fix, fifteen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recording, then hand over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00200"/>
            <a:ext cx="2743200" cy="2743200"/>
          </a:xfrm>
          <a:prstGeom prst="ellipse">
            <a:avLst/>
          </a:prstGeom>
          <a:solidFill>
            <a:srgbClr val="B7A9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6263640"/>
            <a:ext cx="1280160" cy="1280160"/>
          </a:xfrm>
          <a:prstGeom prst="ellipse">
            <a:avLst/>
          </a:prstGeom>
          <a:solidFill>
            <a:srgbClr val="FF4F8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39728" y="384048"/>
            <a:ext cx="658368" cy="658368"/>
          </a:xfrm>
          <a:prstGeom prst="ellipse">
            <a:avLst/>
          </a:prstGeom>
          <a:solidFill>
            <a:srgbClr val="FFD166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4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NIGHT MESS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</a:t>
            </a:r>
            <a:pPr indent="0" marL="0">
              <a:buNone/>
            </a:pPr>
            <a:r>
              <a:rPr lang="en-US" sz="7800" b="1" dirty="0">
                <a:solidFill>
                  <a:srgbClr val="FF4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</a:t>
            </a:r>
            <a:endParaRPr lang="en-US" sz="7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4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inside your block. One code, one meal.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night-mess ordering, queueing and pickup system for VIT Vellore hostels.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add-on to MessIT.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749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Vidhi Garg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035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26BCE3103 · Frontend &amp; demo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50749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Ashutosh Pradhan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53035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26BDE0113 · Payments &amp; admin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6418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Anikeit Agarwal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8704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26BDE0124 · Backend &amp; data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56418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Vedanshi Agrawal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58704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26BDE0168 · Research &amp; pitch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Hackulus '26 · SIAM VIT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00200"/>
            <a:ext cx="2743200" cy="2743200"/>
          </a:xfrm>
          <a:prstGeom prst="ellipse">
            <a:avLst/>
          </a:prstGeom>
          <a:solidFill>
            <a:srgbClr val="B7A9FF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6263640"/>
            <a:ext cx="1280160" cy="1280160"/>
          </a:xfrm>
          <a:prstGeom prst="ellipse">
            <a:avLst/>
          </a:prstGeom>
          <a:solidFill>
            <a:srgbClr val="FF4F87">
              <a:alpha val="7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39728" y="384048"/>
            <a:ext cx="658368" cy="658368"/>
          </a:xfrm>
          <a:prstGeom prst="ellipse">
            <a:avLst/>
          </a:prstGeom>
          <a:solidFill>
            <a:srgbClr val="FFD166">
              <a:alpha val="7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13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walk away from their own block, and a slip of paper decides who eats.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5394960" cy="1417320"/>
          </a:xfrm>
          <a:prstGeom prst="roundRect">
            <a:avLst>
              <a:gd name="adj" fmla="val 9032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  <a:effectLst>
            <a:outerShdw sx="100000" sy="100000" kx="0" ky="0" algn="bl" rotWithShape="0" blurRad="127000" dist="38100" dir="5400000">
              <a:srgbClr val="3B235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103120"/>
            <a:ext cx="475488" cy="475488"/>
          </a:xfrm>
          <a:prstGeom prst="roundRect">
            <a:avLst>
              <a:gd name="adj" fmla="val 30769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103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locked in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43230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entry closes at 9:00 PM for men, 8:30 for women. The mess opens at 10:30. By then your block's counter is the only counter you have.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429000"/>
            <a:ext cx="5394960" cy="1417320"/>
          </a:xfrm>
          <a:prstGeom prst="roundRect">
            <a:avLst>
              <a:gd name="adj" fmla="val 9032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  <a:effectLst>
            <a:outerShdw sx="100000" sy="100000" kx="0" ky="0" algn="bl" rotWithShape="0" blurRad="127000" dist="38100" dir="5400000">
              <a:srgbClr val="3B235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51560" y="3703320"/>
            <a:ext cx="475488" cy="475488"/>
          </a:xfrm>
          <a:prstGeom prst="roundRect">
            <a:avLst>
              <a:gd name="adj" fmla="val 30769"/>
            </a:avLst>
          </a:prstGeom>
          <a:solidFill>
            <a:srgbClr val="FF4F8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3703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703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is the ticket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03250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and get two bills with one number. Lose the big one and your money is gone. Whoever picks it up can collect your food.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5029200"/>
            <a:ext cx="5394960" cy="1097280"/>
          </a:xfrm>
          <a:prstGeom prst="roundRect">
            <a:avLst>
              <a:gd name="adj" fmla="val 11667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  <a:effectLst>
            <a:outerShdw sx="100000" sy="100000" kx="0" ky="0" algn="bl" rotWithShape="0" blurRad="127000" dist="38100" dir="5400000">
              <a:srgbClr val="3B235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51560" y="5285232"/>
            <a:ext cx="475488" cy="475488"/>
          </a:xfrm>
          <a:prstGeom prst="roundRect">
            <a:avLst>
              <a:gd name="adj" fmla="val 30769"/>
            </a:avLst>
          </a:prstGeom>
          <a:solidFill>
            <a:srgbClr val="B7A9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5285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852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queue blind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56144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 how long anything takes, so you stand in the corridor and wait.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0" y="1828800"/>
            <a:ext cx="4800600" cy="4297680"/>
          </a:xfrm>
          <a:prstGeom prst="roundRect">
            <a:avLst>
              <a:gd name="adj" fmla="val 2979"/>
            </a:avLst>
          </a:prstGeom>
          <a:solidFill>
            <a:srgbClr val="181322"/>
          </a:solidFill>
          <a:ln w="12700">
            <a:solidFill>
              <a:srgbClr val="EADFD9"/>
            </a:solidFill>
            <a:prstDash val="solid"/>
          </a:ln>
          <a:effectLst>
            <a:outerShdw sx="100000" sy="100000" kx="0" ky="0" algn="bl" rotWithShape="0" blurRad="127000" dist="38100" dir="5400000">
              <a:srgbClr val="3B235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94944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651760"/>
            <a:ext cx="4069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100" b="1" dirty="0">
                <a:solidFill>
                  <a:srgbClr val="FF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 decides who eats, not the person.</a:t>
            </a:r>
            <a:endParaRPr lang="en-US" sz="31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461772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C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bill is a bearer token. Anyone holding it can redeem it, and the system has no idea. Every other problem here follows from that one.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00200"/>
            <a:ext cx="2743200" cy="2743200"/>
          </a:xfrm>
          <a:prstGeom prst="ellipse">
            <a:avLst/>
          </a:prstGeom>
          <a:solidFill>
            <a:srgbClr val="B7A9FF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6263640"/>
            <a:ext cx="1280160" cy="1280160"/>
          </a:xfrm>
          <a:prstGeom prst="ellipse">
            <a:avLst/>
          </a:prstGeom>
          <a:solidFill>
            <a:srgbClr val="FF4F87">
              <a:alpha val="7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39728" y="384048"/>
            <a:ext cx="658368" cy="658368"/>
          </a:xfrm>
          <a:prstGeom prst="ellipse">
            <a:avLst/>
          </a:prstGeom>
          <a:solidFill>
            <a:srgbClr val="FFD166">
              <a:alpha val="7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13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experiences, one system. The code replaces the paper; the queue comes to your phone.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3383280" cy="2103120"/>
          </a:xfrm>
          <a:prstGeom prst="roundRect">
            <a:avLst>
              <a:gd name="adj" fmla="val 6087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  <a:effectLst>
            <a:outerShdw sx="100000" sy="100000" kx="0" ky="0" algn="bl" rotWithShape="0" blurRad="127000" dist="38100" dir="5400000">
              <a:srgbClr val="3B235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1993392"/>
            <a:ext cx="713232" cy="713232"/>
          </a:xfrm>
          <a:prstGeom prst="roundRect">
            <a:avLst>
              <a:gd name="adj" fmla="val 28205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199339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892808" y="2103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hostel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892808" y="2404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926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block, build a cart, pay by UPI or cash.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1737360"/>
            <a:ext cx="3383280" cy="2103120"/>
          </a:xfrm>
          <a:prstGeom prst="roundRect">
            <a:avLst>
              <a:gd name="adj" fmla="val 6087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  <a:effectLst>
            <a:outerShdw sx="100000" sy="100000" kx="0" ky="0" algn="bl" rotWithShape="0" blurRad="127000" dist="38100" dir="5400000">
              <a:srgbClr val="3B235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993392"/>
            <a:ext cx="713232" cy="713232"/>
          </a:xfrm>
          <a:prstGeom prst="roundRect">
            <a:avLst>
              <a:gd name="adj" fmla="val 28205"/>
            </a:avLst>
          </a:prstGeom>
          <a:solidFill>
            <a:srgbClr val="A45C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09160" y="199339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550408" y="2103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Ladies' hostel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550408" y="2404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A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2926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 in its own palette, showing only its own blocks.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92440" y="1737360"/>
            <a:ext cx="3383280" cy="2103120"/>
          </a:xfrm>
          <a:prstGeom prst="roundRect">
            <a:avLst>
              <a:gd name="adj" fmla="val 6087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  <a:effectLst>
            <a:outerShdw sx="100000" sy="100000" kx="0" ky="0" algn="bl" rotWithShape="0" blurRad="127000" dist="38100" dir="5400000">
              <a:srgbClr val="3B235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66760" y="1993392"/>
            <a:ext cx="713232" cy="713232"/>
          </a:xfrm>
          <a:prstGeom prst="roundRect">
            <a:avLst>
              <a:gd name="adj" fmla="val 28205"/>
            </a:avLst>
          </a:prstGeom>
          <a:solidFill>
            <a:srgbClr val="0F9B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66760" y="199339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208008" y="2103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staff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208008" y="2404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2926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queue, scan to serve, stock control, dashboard.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4197096"/>
            <a:ext cx="146304" cy="146304"/>
          </a:xfrm>
          <a:prstGeom prst="ellipse">
            <a:avLst/>
          </a:prstGeom>
          <a:solidFill>
            <a:srgbClr val="FF4F8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5156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code, one meal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389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six-digit code tied to your registration number. Served once, then dead.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34840" y="4197096"/>
            <a:ext cx="146304" cy="146304"/>
          </a:xfrm>
          <a:prstGeom prst="ellipse">
            <a:avLst/>
          </a:prstGeom>
          <a:solidFill>
            <a:srgbClr val="FF4F8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0916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cart's wait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709160" y="4389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slowest dish plus everyone queued ahead — not the sum of the items.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92440" y="4197096"/>
            <a:ext cx="146304" cy="146304"/>
          </a:xfrm>
          <a:prstGeom prst="ellipse">
            <a:avLst/>
          </a:prstGeom>
          <a:solidFill>
            <a:srgbClr val="FF4F8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6676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place in line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389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per counter, counting down live as the people ahead are served.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77240" y="5294376"/>
            <a:ext cx="146304" cy="146304"/>
          </a:xfrm>
          <a:prstGeom prst="ellipse">
            <a:avLst/>
          </a:prstGeom>
          <a:solidFill>
            <a:srgbClr val="FF4F8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51560" y="5212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either way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5486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through Razorpay, or cash at the counter. Both end in the same queue.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434840" y="5294376"/>
            <a:ext cx="146304" cy="146304"/>
          </a:xfrm>
          <a:prstGeom prst="ellipse">
            <a:avLst/>
          </a:prstGeom>
          <a:solidFill>
            <a:srgbClr val="FF4F8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709160" y="5212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is data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709160" y="5486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prices, counters, closing times. Onboarding a block is rows, not a release.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092440" y="5294376"/>
            <a:ext cx="146304" cy="146304"/>
          </a:xfrm>
          <a:prstGeom prst="ellipse">
            <a:avLst/>
          </a:prstGeom>
          <a:solidFill>
            <a:srgbClr val="FF4F8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366760" y="5212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 again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366760" y="5486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registration number on any phone and your live order comes back.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00200"/>
            <a:ext cx="2743200" cy="2743200"/>
          </a:xfrm>
          <a:prstGeom prst="ellipse">
            <a:avLst/>
          </a:prstGeom>
          <a:solidFill>
            <a:srgbClr val="B7A9FF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6263640"/>
            <a:ext cx="1280160" cy="1280160"/>
          </a:xfrm>
          <a:prstGeom prst="ellipse">
            <a:avLst/>
          </a:prstGeom>
          <a:solidFill>
            <a:srgbClr val="FF4F87">
              <a:alpha val="7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39728" y="384048"/>
            <a:ext cx="658368" cy="658368"/>
          </a:xfrm>
          <a:prstGeom prst="ellipse">
            <a:avLst/>
          </a:prstGeom>
          <a:solidFill>
            <a:srgbClr val="FFD166">
              <a:alpha val="7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13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on the phone, Node and Express on Render, PostgreSQL holding every rule.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1664208" cy="914400"/>
          </a:xfrm>
          <a:prstGeom prst="roundRect">
            <a:avLst>
              <a:gd name="adj" fmla="val 12000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5256" y="1901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05256" y="21579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cart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1031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24328" y="1783080"/>
            <a:ext cx="1664208" cy="914400"/>
          </a:xfrm>
          <a:prstGeom prst="roundRect">
            <a:avLst>
              <a:gd name="adj" fmla="val 12000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52344" y="1901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52344" y="21579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— UPI or cash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70248" y="21031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71416" y="1783080"/>
            <a:ext cx="1664208" cy="914400"/>
          </a:xfrm>
          <a:prstGeom prst="roundRect">
            <a:avLst>
              <a:gd name="adj" fmla="val 12000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99432" y="1901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21579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code + token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17336" y="21031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18504" y="1783080"/>
            <a:ext cx="1664208" cy="914400"/>
          </a:xfrm>
          <a:prstGeom prst="roundRect">
            <a:avLst>
              <a:gd name="adj" fmla="val 12000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1901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1579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queue drop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964424" y="21031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165592" y="1783080"/>
            <a:ext cx="1664208" cy="914400"/>
          </a:xfrm>
          <a:prstGeom prst="roundRect">
            <a:avLst>
              <a:gd name="adj" fmla="val 12000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1901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21579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scans it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811512" y="21031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012680" y="1783080"/>
            <a:ext cx="1664208" cy="914400"/>
          </a:xfrm>
          <a:prstGeom prst="roundRect">
            <a:avLst>
              <a:gd name="adj" fmla="val 12000"/>
            </a:avLst>
          </a:prstGeom>
          <a:solidFill>
            <a:srgbClr val="181322"/>
          </a:solidFill>
          <a:ln w="12700">
            <a:solidFill>
              <a:srgbClr val="18132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140696" y="1901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140696" y="21579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Served, code dies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3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parts that were genuinely hard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77240" y="3520440"/>
            <a:ext cx="5166360" cy="2331720"/>
          </a:xfrm>
          <a:prstGeom prst="roundRect">
            <a:avLst>
              <a:gd name="adj" fmla="val 5490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  <a:effectLst>
            <a:outerShdw sx="100000" sy="100000" kx="0" ky="0" algn="bl" rotWithShape="0" blurRad="127000" dist="38100" dir="5400000">
              <a:srgbClr val="3B235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69848" y="3822192"/>
            <a:ext cx="182880" cy="182880"/>
          </a:xfrm>
          <a:prstGeom prst="ellipse">
            <a:avLst/>
          </a:prstGeom>
          <a:solidFill>
            <a:srgbClr val="FF4F8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399032" y="3749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that can only be spent once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399032" y="4114800"/>
            <a:ext cx="4251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is hashed, never stored readable, and guarded by a partial unique index over carts still waiting at that counter. Serving one frees its code, so the six-digit space never fills however many nights this runs. Redemption is a single conditional UPDATE, so two simultaneous scans still serve the cart exactly once.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63640" y="3520440"/>
            <a:ext cx="5166360" cy="2331720"/>
          </a:xfrm>
          <a:prstGeom prst="roundRect">
            <a:avLst>
              <a:gd name="adj" fmla="val 5490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  <a:effectLst>
            <a:outerShdw sx="100000" sy="100000" kx="0" ky="0" algn="bl" rotWithShape="0" blurRad="127000" dist="38100" dir="5400000">
              <a:srgbClr val="3B235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56248" y="3822192"/>
            <a:ext cx="182880" cy="182880"/>
          </a:xfrm>
          <a:prstGeom prst="ellipse">
            <a:avLst/>
          </a:prstGeom>
          <a:solidFill>
            <a:srgbClr val="B7A9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85432" y="3749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serving window that crosses midnight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85432" y="4114800"/>
            <a:ext cx="4251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23:00 is before 00:15 on the same night, so times of day cannot be compared directly — every item read as closed all night. A night_min() function reorders the clock. Render also runs on UTC, so the pool pins each connection to Asia/Kolkata or the database thinks 23:00 IST is 17:30.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77240" y="6080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50" kern="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22  ·  Express  ·  PostgreSQL 16 + pgcrypto  ·  React 18 + Vite  ·  Razorpay  ·  Render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00200"/>
            <a:ext cx="2743200" cy="2743200"/>
          </a:xfrm>
          <a:prstGeom prst="ellipse">
            <a:avLst/>
          </a:prstGeom>
          <a:solidFill>
            <a:srgbClr val="B7A9FF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6263640"/>
            <a:ext cx="1280160" cy="1280160"/>
          </a:xfrm>
          <a:prstGeom prst="ellipse">
            <a:avLst/>
          </a:prstGeom>
          <a:solidFill>
            <a:srgbClr val="FF4F87">
              <a:alpha val="7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39728" y="384048"/>
            <a:ext cx="658368" cy="658368"/>
          </a:xfrm>
          <a:prstGeom prst="ellipse">
            <a:avLst/>
          </a:prstGeom>
          <a:solidFill>
            <a:srgbClr val="FFD166">
              <a:alpha val="7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13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built, deployed and tested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Render right now, not a prototype on a laptop.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2468880" cy="1463040"/>
          </a:xfrm>
          <a:prstGeom prst="roundRect">
            <a:avLst>
              <a:gd name="adj" fmla="val 8750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  <a:effectLst>
            <a:outerShdw sx="100000" sy="100000" kx="0" ky="0" algn="bl" rotWithShape="0" blurRad="127000" dist="38100" dir="5400000">
              <a:srgbClr val="3B235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33272" y="197510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4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783080"/>
            <a:ext cx="2468880" cy="1463040"/>
          </a:xfrm>
          <a:prstGeom prst="roundRect">
            <a:avLst>
              <a:gd name="adj" fmla="val 8750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  <a:effectLst>
            <a:outerShdw sx="100000" sy="100000" kx="0" ky="0" algn="bl" rotWithShape="0" blurRad="127000" dist="38100" dir="5400000">
              <a:srgbClr val="3B235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730752" y="197510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blocks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783080"/>
            <a:ext cx="2468880" cy="1463040"/>
          </a:xfrm>
          <a:prstGeom prst="roundRect">
            <a:avLst>
              <a:gd name="adj" fmla="val 8750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  <a:effectLst>
            <a:outerShdw sx="100000" sy="100000" kx="0" ky="0" algn="bl" rotWithShape="0" blurRad="127000" dist="38100" dir="5400000">
              <a:srgbClr val="3B235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28232" y="197510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7A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rows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69680" y="1783080"/>
            <a:ext cx="2468880" cy="1463040"/>
          </a:xfrm>
          <a:prstGeom prst="roundRect">
            <a:avLst>
              <a:gd name="adj" fmla="val 8750"/>
            </a:avLst>
          </a:prstGeom>
          <a:solidFill>
            <a:srgbClr val="FFFDFB"/>
          </a:solidFill>
          <a:ln w="12700">
            <a:solidFill>
              <a:srgbClr val="EADFD9"/>
            </a:solidFill>
            <a:prstDash val="solid"/>
          </a:ln>
          <a:effectLst>
            <a:outerShdw sx="100000" sy="100000" kx="0" ky="0" algn="bl" rotWithShape="0" blurRad="127000" dist="38100" dir="5400000">
              <a:srgbClr val="3B235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25712" y="197510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3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bugs worth admitting to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22960" y="4078224"/>
            <a:ext cx="155448" cy="15544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43000" y="40233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UNIQUE INDEX IF NOT EXISTS silently does nothing </a:t>
            </a:r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non-unique index of that name already exists. No error — and the single-use guarantee was quietly off. Found by deliberately breaking the code and noticing a test that did not fail.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791456"/>
            <a:ext cx="155448" cy="15544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43000" y="4736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uniqueness test did not test uniqueness. </a:t>
            </a:r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25 random six-digit codes and checking they differ passes whether or not the index exists. Replaced with three deterministic tests, including a forced collision.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5504688"/>
            <a:ext cx="155448" cy="15544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43000" y="5449824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8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cart's wait was the sum of its items. </a:t>
            </a:r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D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kitchen cooks a cart together, so two Maggi and a coffee is six minutes, not fourteen. Now the slowest item plus the queue ahead.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458200" y="3977640"/>
            <a:ext cx="2926080" cy="2103120"/>
          </a:xfrm>
          <a:prstGeom prst="roundRect">
            <a:avLst>
              <a:gd name="adj" fmla="val 6087"/>
            </a:avLst>
          </a:prstGeom>
          <a:solidFill>
            <a:srgbClr val="181322"/>
          </a:solidFill>
          <a:ln w="12700">
            <a:solidFill>
              <a:srgbClr val="EADFD9"/>
            </a:solidFill>
            <a:prstDash val="solid"/>
          </a:ln>
          <a:effectLst>
            <a:outerShdw sx="100000" sy="100000" kx="0" ky="0" algn="bl" rotWithShape="0" blurRad="127000" dist="38100" dir="5400000">
              <a:srgbClr val="3B235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732520" y="42245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732520" y="4526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nightit-api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.onrender.com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5303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blocks and 220 menu rows served from a live PostgreSQL database. Mutation testing, concurrency tests and a full browser run back it.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00200"/>
            <a:ext cx="2743200" cy="2743200"/>
          </a:xfrm>
          <a:prstGeom prst="ellipse">
            <a:avLst/>
          </a:prstGeom>
          <a:solidFill>
            <a:srgbClr val="B7A9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6263640"/>
            <a:ext cx="1280160" cy="1280160"/>
          </a:xfrm>
          <a:prstGeom prst="ellipse">
            <a:avLst/>
          </a:prstGeom>
          <a:solidFill>
            <a:srgbClr val="FF4F8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39728" y="384048"/>
            <a:ext cx="658368" cy="658368"/>
          </a:xfrm>
          <a:prstGeom prst="ellipse">
            <a:avLst/>
          </a:prstGeom>
          <a:solidFill>
            <a:srgbClr val="FFD166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run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to served meal, in under a minute.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7772400" cy="4389120"/>
          </a:xfrm>
          <a:prstGeom prst="roundRect">
            <a:avLst>
              <a:gd name="adj" fmla="val 2083"/>
            </a:avLst>
          </a:prstGeom>
          <a:solidFill>
            <a:srgbClr val="221C2E"/>
          </a:solidFill>
          <a:ln w="19050">
            <a:solidFill>
              <a:srgbClr val="4A405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315968" y="3566160"/>
            <a:ext cx="786384" cy="786384"/>
          </a:xfrm>
          <a:prstGeom prst="ellipse">
            <a:avLst/>
          </a:prstGeom>
          <a:solidFill>
            <a:srgbClr val="2E2739"/>
          </a:solidFill>
          <a:ln w="19050">
            <a:solidFill>
              <a:srgbClr val="554D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4572000" y="3758184"/>
            <a:ext cx="310896" cy="402336"/>
          </a:xfrm>
          <a:prstGeom prst="triangle">
            <a:avLst/>
          </a:prstGeom>
          <a:solidFill>
            <a:srgbClr val="8F859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E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DEMO VIDEO HERE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&gt; Video &gt; This Device, then size it to this box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4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2194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24323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title screen, then pick a hostel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9992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323697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cart — the wait is the slowest dish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38039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00:24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40416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Pay, and a six-digit code comes back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46085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00:34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4846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 marks it ready; the phone turns green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0" y="5413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00:44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0" y="56509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once — SERVED. Scan again — ALREADY USED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NightIT</dc:title>
  <dc:subject>PptxGenJS Presentation</dc:subject>
  <dc:creator>NightIT — Hackulus'26</dc:creator>
  <cp:lastModifiedBy>NightIT — Hackulus'26</cp:lastModifiedBy>
  <cp:revision>1</cp:revision>
  <dcterms:created xsi:type="dcterms:W3CDTF">2026-09-14T22:07:38Z</dcterms:created>
  <dcterms:modified xsi:type="dcterms:W3CDTF">2026-09-14T22:07:38Z</dcterms:modified>
</cp:coreProperties>
</file>